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Assets on record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E23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Sheet1!$A$2:$A$18</c:f>
              <c:multiLvlStrCache>
                <c:ptCount val="17"/>
                <c:lvl>
                  <c:pt idx="0">
                    <c:v>Armadillo</c:v>
                  </c:pt>
                  <c:pt idx="1">
                    <c:v>Clear Fork Ck</c:v>
                  </c:pt>
                  <c:pt idx="2">
                    <c:v>Atlas IV</c:v>
                  </c:pt>
                  <c:pt idx="3">
                    <c:v>Atlas VI</c:v>
                  </c:pt>
                  <c:pt idx="4">
                    <c:v>Atlas X</c:v>
                  </c:pt>
                  <c:pt idx="5">
                    <c:v>Atlas II</c:v>
                  </c:pt>
                  <c:pt idx="6">
                    <c:v>Blossom</c:v>
                  </c:pt>
                  <c:pt idx="7">
                    <c:v>Ursa</c:v>
                  </c:pt>
                  <c:pt idx="8">
                    <c:v>Beavertail</c:v>
                  </c:pt>
                  <c:pt idx="9">
                    <c:v>Atlas XI</c:v>
                  </c:pt>
                  <c:pt idx="10">
                    <c:v>Eagle Creek</c:v>
                  </c:pt>
                  <c:pt idx="11">
                    <c:v>Atlas V</c:v>
                  </c:pt>
                  <c:pt idx="12">
                    <c:v>Travertine</c:v>
                  </c:pt>
                  <c:pt idx="13">
                    <c:v>Great Plains</c:v>
                  </c:pt>
                  <c:pt idx="14">
                    <c:v>Switchgrass</c:v>
                  </c:pt>
                  <c:pt idx="15">
                    <c:v>Atlas XII</c:v>
                  </c:pt>
                  <c:pt idx="16">
                    <c:v>Atlas XIII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86</c:v>
                </c:pt>
                <c:pt idx="1">
                  <c:v>68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E234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5A6B7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1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9"/>
        </a:solidFill>
        <a:ln>
          <a:noFill/>
        </a:ln>
        <a:effectLst/>
      </c:spPr>
    </c:plotArea>
    <c:plotVisOnly val="1"/>
    <c:dispBlanksAs val="span"/>
  </c:chart>
  <c:spPr>
    <a:solidFill>
      <a:srgbClr val="F4F6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frame: we are not here to sell a database. We are here because the equipment on your sites is currently tracked in a workbook that has stopped keeping up. Next slide shows that in your own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not estimates — they are counts straight out of the workbook. The zero is the one to sit on: not a single item in the file has an actual calibration date. Fifty-seven are marked N/A and ninety-seven are blank.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generous in tone. Nobody in the room built a bad process — they outgrew a good-enough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transition into the live demo. Say it plainly: the next few slides are screens you can open right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beat: scan a real tag here if the room has one. Otherwise type an asset number to show the same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photo matters more than it sounds — it is the difference between "we say it was calibrated" and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theft: the value is not preventing it, it is knowing within a day instead of a quarter.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belabour this. The chart makes the argument; let the silence do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objection-killer slide. If there is time, do the import live — it is the most persuasive thing in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IT is in the room, slow down here. If not, one sentence and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ask small and concrete. Two sites, one half-day. Anything bigger invites a procurement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ask, then stop talking. The next person to speak should be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554480"/>
            <a:ext cx="5120640" cy="5120640"/>
          </a:xfrm>
          <a:prstGeom prst="ellipse">
            <a:avLst/>
          </a:prstGeom>
          <a:solidFill>
            <a:srgbClr val="1B3557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206240"/>
            <a:ext cx="2377440" cy="2377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745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ASSET FORGE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asset. Every site.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Accounted for.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Equipment, calibration, and custody tracking built for survey crews in the field — replacing the site-by-site spreadsheet with one live system.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5349240"/>
            <a:ext cx="27432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486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Q CELLS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SURVEY ASSET TRACKER WORKBOOK,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spreadsheet already stopped keeping 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15184" cy="2286000"/>
          </a:xfrm>
          <a:prstGeom prst="roundRect">
            <a:avLst>
              <a:gd name="adj" fmla="val 3200"/>
            </a:avLst>
          </a:prstGeom>
          <a:solidFill>
            <a:srgbClr val="1B355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2615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17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86384" y="303580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tabs contain any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358444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sites are empty templates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11296" y="1965960"/>
            <a:ext cx="2615184" cy="2286000"/>
          </a:xfrm>
          <a:prstGeom prst="roundRect">
            <a:avLst>
              <a:gd name="adj" fmla="val 3200"/>
            </a:avLst>
          </a:prstGeom>
          <a:solidFill>
            <a:srgbClr val="1B3557"/>
          </a:solidFill>
          <a:ln/>
        </p:spPr>
      </p:sp>
      <p:sp>
        <p:nvSpPr>
          <p:cNvPr id="9" name="Text 7"/>
          <p:cNvSpPr/>
          <p:nvPr/>
        </p:nvSpPr>
        <p:spPr>
          <a:xfrm>
            <a:off x="3511296" y="2148840"/>
            <a:ext cx="2615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657600" y="303580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pieces of equipment listed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358444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 on HQC asset tags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82512" y="1965960"/>
            <a:ext cx="2615184" cy="2286000"/>
          </a:xfrm>
          <a:prstGeom prst="roundRect">
            <a:avLst>
              <a:gd name="adj" fmla="val 3200"/>
            </a:avLst>
          </a:prstGeom>
          <a:solidFill>
            <a:srgbClr val="1B3557"/>
          </a:solidFill>
          <a:ln/>
        </p:spPr>
      </p:sp>
      <p:sp>
        <p:nvSpPr>
          <p:cNvPr id="13" name="Text 11"/>
          <p:cNvSpPr/>
          <p:nvPr/>
        </p:nvSpPr>
        <p:spPr>
          <a:xfrm>
            <a:off x="6382512" y="2148840"/>
            <a:ext cx="2615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528816" y="303580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calibration date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28816" y="358444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marked "N/A", 97 blank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53728" y="1965960"/>
            <a:ext cx="2615184" cy="2286000"/>
          </a:xfrm>
          <a:prstGeom prst="roundRect">
            <a:avLst>
              <a:gd name="adj" fmla="val 3200"/>
            </a:avLst>
          </a:prstGeom>
          <a:solidFill>
            <a:srgbClr val="1B3557"/>
          </a:solidFill>
          <a:ln/>
        </p:spPr>
      </p:sp>
      <p:sp>
        <p:nvSpPr>
          <p:cNvPr id="17" name="Text 15"/>
          <p:cNvSpPr/>
          <p:nvPr/>
        </p:nvSpPr>
        <p:spPr>
          <a:xfrm>
            <a:off x="9253728" y="2148840"/>
            <a:ext cx="2615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400032" y="303580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serial number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400032" y="358444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an insurer asks for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709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value is recorded for 18 of the 154 items — $159,514. The other 136 carry no value at all.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TURNS INTO ON SITE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this shows up as cost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9584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8899AA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2011680"/>
            <a:ext cx="420624" cy="42062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50976" y="2606040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Out-of-tolerance work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0976" y="3291840"/>
            <a:ext cx="2907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uncalibrated total station still produces numbers — they are just wrong. On a solar build that surfaces as piles set off-tolerance and torque tubes that will not align, discovered after install.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691640"/>
            <a:ext cx="3529584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8899AA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91456" y="2011680"/>
            <a:ext cx="420624" cy="42062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4791456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91456" y="2606040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that quietly leaves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91456" y="3291840"/>
            <a:ext cx="2907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serial number on 3 of 4 items and no record of who took what, a missing receiver is noticed weeks later — and there is nothing to give the insurer or the police.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21040" y="1691640"/>
            <a:ext cx="3529584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8899AA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31936" y="2011680"/>
            <a:ext cx="420624" cy="42062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8631936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31936" y="2606040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Crews idle at the gate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31936" y="3291840"/>
            <a:ext cx="2907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see what is where. Gear gets bought again because finding it costs more than replacing it, and a crew waits while somebody drives across the region.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is a discipline problem. It is what happens when the system of record is a file that only one person maintains.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system, built around how crews actually work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15184" cy="283464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8899AA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11680"/>
            <a:ext cx="566928" cy="566928"/>
          </a:xfrm>
          <a:prstGeom prst="ellipse">
            <a:avLst/>
          </a:prstGeom>
          <a:solidFill>
            <a:srgbClr val="0E2340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" y="272491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lookup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3154680"/>
            <a:ext cx="2029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 phone at the tag. Full history in about a second — in the browser, no app to install.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11296" y="1737360"/>
            <a:ext cx="2615184" cy="283464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8899AA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03904" y="2011680"/>
            <a:ext cx="566928" cy="566928"/>
          </a:xfrm>
          <a:prstGeom prst="ellipse">
            <a:avLst/>
          </a:prstGeom>
          <a:solidFill>
            <a:srgbClr val="0E2340"/>
          </a:solidFill>
          <a:ln/>
        </p:spPr>
      </p:sp>
      <p:sp>
        <p:nvSpPr>
          <p:cNvPr id="11" name="Text 9"/>
          <p:cNvSpPr/>
          <p:nvPr/>
        </p:nvSpPr>
        <p:spPr>
          <a:xfrm>
            <a:off x="3803904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03904" y="272491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engine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03904" y="3154680"/>
            <a:ext cx="2029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asset carries an interval. The system computes due dates and flags what is slipping.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82512" y="1737360"/>
            <a:ext cx="2615184" cy="283464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8899AA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75120" y="2011680"/>
            <a:ext cx="566928" cy="566928"/>
          </a:xfrm>
          <a:prstGeom prst="ellipse">
            <a:avLst/>
          </a:prstGeom>
          <a:solidFill>
            <a:srgbClr val="0E2340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75120" y="272491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 chain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3154680"/>
            <a:ext cx="2029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gear out to a person, check it back in. Every movement is recorded and attributable.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53728" y="1737360"/>
            <a:ext cx="2615184" cy="283464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8899AA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46336" y="2011680"/>
            <a:ext cx="566928" cy="566928"/>
          </a:xfrm>
          <a:prstGeom prst="ellipse">
            <a:avLst/>
          </a:prstGeom>
          <a:solidFill>
            <a:srgbClr val="0E2340"/>
          </a:solidFill>
          <a:ln/>
        </p:spPr>
      </p:sp>
      <p:sp>
        <p:nvSpPr>
          <p:cNvPr id="21" name="Text 19"/>
          <p:cNvSpPr/>
          <p:nvPr/>
        </p:nvSpPr>
        <p:spPr>
          <a:xfrm>
            <a:off x="9546336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546336" y="272491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 rollup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46336" y="3154680"/>
            <a:ext cx="2029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site on one screen, with the problems surfaced first instead of buried in a tab.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8920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0E2340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48920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in production today — not a prototype. Every screen in this deck is live software you can open now.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FIELD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tag, know everything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supervisor standing at a pallet of gear does not open a spreadsheet. They point a phone at the barcode already on the asset.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37744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tags you already have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70662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128, Code 39, EAN, UPC, QR — the HQC labels work as-is.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282696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23697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in one screen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35661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is, whose it is, where it belongs, when it was last calibrated.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142232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09651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one-handed use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442569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tap targets and a torch toggle for a dark container or a dusk shift.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5001768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95604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typing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528523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label? Type the asset number. Barcode wedge scanners work too.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63840" y="1371600"/>
            <a:ext cx="3017520" cy="4572000"/>
          </a:xfrm>
          <a:prstGeom prst="roundRect">
            <a:avLst>
              <a:gd name="adj" fmla="val 1818"/>
            </a:avLst>
          </a:prstGeom>
          <a:solidFill>
            <a:srgbClr val="0E2340"/>
          </a:solidFill>
          <a:ln/>
          <a:effectLst>
            <a:outerShdw sx="100000" sy="100000" kx="0" ky="0" algn="bl" rotWithShape="0" blurRad="152400" dist="25400" dir="5400000">
              <a:srgbClr val="8899AA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28432" y="1627632"/>
            <a:ext cx="2688336" cy="4059936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183880" y="1783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RESULT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183880" y="20299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HQC-DC-0004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183880" y="2359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FC-6400 w/ Pocket 3D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83880" y="2724912"/>
            <a:ext cx="1481328" cy="274320"/>
          </a:xfrm>
          <a:prstGeom prst="roundRect">
            <a:avLst>
              <a:gd name="adj" fmla="val 13333"/>
            </a:avLst>
          </a:prstGeom>
          <a:solidFill>
            <a:srgbClr val="FDEBD0"/>
          </a:solidFill>
          <a:ln/>
        </p:spPr>
      </p:sp>
      <p:sp>
        <p:nvSpPr>
          <p:cNvPr id="23" name="Text 21"/>
          <p:cNvSpPr/>
          <p:nvPr/>
        </p:nvSpPr>
        <p:spPr>
          <a:xfrm>
            <a:off x="8183880" y="272491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DUE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18388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098280" y="3200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Armadillo (0273)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183880" y="3584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by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098280" y="3584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Reyes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183880" y="39684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since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098280" y="39684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3525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cal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098280" y="43525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 record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18388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098280" y="4736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183880" y="5193792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F5A623"/>
          </a:solidFill>
          <a:ln/>
        </p:spPr>
      </p:sp>
      <p:sp>
        <p:nvSpPr>
          <p:cNvPr id="35" name="Text 33"/>
          <p:cNvSpPr/>
          <p:nvPr/>
        </p:nvSpPr>
        <p:spPr>
          <a:xfrm>
            <a:off x="8183880" y="51937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calibration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that tracks itself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asset carries an interval. The system computes the next due date and moves it between states on its own — nobody maintains a reminder list.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E8F6EE"/>
          </a:solidFill>
          <a:ln/>
          <a:effectLst>
            <a:outerShdw sx="100000" sy="100000" kx="0" ky="0" algn="bl" rotWithShape="0" blurRad="152400" dist="25400" dir="5400000">
              <a:srgbClr val="8899AA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23591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30 days out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11296" y="214884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DF3E3"/>
          </a:solidFill>
          <a:ln/>
          <a:effectLst>
            <a:outerShdw sx="100000" sy="100000" kx="0" ky="0" algn="bl" rotWithShape="0" blurRad="152400" dist="25400" dir="5400000">
              <a:srgbClr val="8899AA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67328" y="23591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67328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to 30 days out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82512" y="214884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CEEE3"/>
          </a:solidFill>
          <a:ln/>
          <a:effectLst>
            <a:outerShdw sx="100000" sy="100000" kx="0" ky="0" algn="bl" rotWithShape="0" blurRad="152400" dist="25400" dir="5400000">
              <a:srgbClr val="8899AA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38544" y="23591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soon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38544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21 days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53728" y="214884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AE9E7"/>
          </a:solidFill>
          <a:ln/>
          <a:effectLst>
            <a:outerShdw sx="100000" sy="100000" kx="0" ky="0" algn="bl" rotWithShape="0" blurRad="152400" dist="25400" dir="5400000">
              <a:srgbClr val="8899AA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509760" y="23591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0976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the due date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10881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8899AA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05840" y="40416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one takes about fifteen seconds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05840" y="4462272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asset, enter the date, photograph the certificate. 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photo is stored against the record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status recalculates immediately, and the whole history stays attached to the asset for the auditor who asks in eighteen months.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Somebody is always holding it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does not go missing so much as it stops being anybody’s responsibility. Check-out and check-in close that gap without adding paperwork.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240487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out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2697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named person, with the date and the site recorded.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264408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2461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 everyone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35387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shows who holds what, right now, across every site.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105656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105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08736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back in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437997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tap. The asset returns to available and the history closes.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946904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946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92861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record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88720" y="522122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movement is retained — the chain survives staff turnover.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40880" y="1371600"/>
            <a:ext cx="44805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8899AA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0" y="16276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checked out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315200" y="2715768"/>
            <a:ext cx="3931920" cy="7315"/>
          </a:xfrm>
          <a:prstGeom prst="rect">
            <a:avLst/>
          </a:prstGeom>
          <a:solidFill>
            <a:srgbClr val="E3E9F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HQC-DC-0004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0" y="2404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Armadillo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26880" y="2240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Reyes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0" y="3374136"/>
            <a:ext cx="3931920" cy="7315"/>
          </a:xfrm>
          <a:prstGeom prst="rect">
            <a:avLst/>
          </a:prstGeom>
          <a:solidFill>
            <a:srgbClr val="E3E9F0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0" y="2807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HQC-3DO-0003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0" y="3063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Armadillo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326880" y="2898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Okafor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0" y="4032504"/>
            <a:ext cx="3931920" cy="7315"/>
          </a:xfrm>
          <a:prstGeom prst="rect">
            <a:avLst/>
          </a:prstGeom>
          <a:solidFill>
            <a:srgbClr val="E3E9F0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0" y="3465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RDO-DC-0001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0" y="3721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Fork Creek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326880" y="35570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Whitfield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0" y="4690872"/>
            <a:ext cx="3931920" cy="7315"/>
          </a:xfrm>
          <a:prstGeom prst="rect">
            <a:avLst/>
          </a:prstGeom>
          <a:solidFill>
            <a:srgbClr val="E3E9F0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0" y="4123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HQC-GPS-0012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0" y="43799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Fork Creek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326880" y="42153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Lindqvist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15200" y="5349240"/>
            <a:ext cx="3931920" cy="7315"/>
          </a:xfrm>
          <a:prstGeom prst="rect">
            <a:avLst/>
          </a:prstGeom>
          <a:solidFill>
            <a:srgbClr val="E3E9F0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0" y="4782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HQC-TS-0021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15200" y="5038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Armadillo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326880" y="4873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Boone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ACROSS YOUR 17 SITES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sites carry the whole record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72237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60020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0E2340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17830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412480" y="26060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with no equipment recorded at all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138160" y="374904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8899AA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412480" y="39776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site means another tab, maintained by hand, by one person. That is why fifteen of them are still empty.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workbook is the migration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reason a system like this never gets adopted is the thought of re-entering everything. There is nothing to re-enter.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615184" cy="274320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8899AA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59152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file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456432"/>
            <a:ext cx="2066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Survey Asset Tracker.xlsx you use today. No template, no reformatting.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11296" y="2103120"/>
            <a:ext cx="2615184" cy="274320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8899AA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85616" y="2359152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3785616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85616" y="2880360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your structure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85616" y="3456432"/>
            <a:ext cx="2066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site tab becomes a site. Every row becomes a tracked asset, with cost, ownership and firmware carried across.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82512" y="2103120"/>
            <a:ext cx="2615184" cy="274320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8899AA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56832" y="2359152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6656832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56832" y="2880360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before committing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56832" y="3456432"/>
            <a:ext cx="2066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exactly what will be created — site by site, count by count — before anything is written.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253728" y="2103120"/>
            <a:ext cx="2615184" cy="274320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8899AA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528048" y="2359152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9528048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28048" y="2880360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run twice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28048" y="3456432"/>
            <a:ext cx="2066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Re-importing skips what already exists. No duplicates, no cleanup.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1663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E2340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spreadsheet to a live, searchable fleet in a single sitting — and the workbook stays exactly as it is.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AND CONTROL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see their site, and nothing else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858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8899AA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19656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supervisor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112264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to one site. Scans, calibrates, checks gear in and out. Cannot see another site’s equipment — enforced on the server, not hidden in the interface.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6858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8899AA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3054096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director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3346704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Fleet-wide visibility across every site, plus custody and calibration. Cannot dispose of assets.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6858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8899AA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4288536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4581144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control, including asset disposal and team management.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63840" y="1691640"/>
            <a:ext cx="3657600" cy="3611880"/>
          </a:xfrm>
          <a:prstGeom prst="roundRect">
            <a:avLst>
              <a:gd name="adj" fmla="val 2025"/>
            </a:avLst>
          </a:prstGeom>
          <a:solidFill>
            <a:srgbClr val="0E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88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from the start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83880" y="2542032"/>
            <a:ext cx="182880" cy="1828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487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sign-in — no shared passwords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83880" y="3072384"/>
            <a:ext cx="182880" cy="1828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3017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 on every query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83880" y="3602736"/>
            <a:ext cx="182880" cy="1828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35478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 — who, what, when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83880" y="4133088"/>
            <a:ext cx="182880" cy="1828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07822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ever hard-deleted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83880" y="4663440"/>
            <a:ext cx="182880" cy="1828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085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Disposals recorded, not erased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5321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and hardened ahead of this pilot — access control, tenant isolation, and audit coverage.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NEXT STEP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 on two sites in thirty days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9584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8899AA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57400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0574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2578608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and label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3035808"/>
            <a:ext cx="2944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workbook, print barcode labels for Armadillo and Clear Fork Creek, tag the gear.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783080"/>
            <a:ext cx="3529584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8899AA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3168" y="2057400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4773168" y="20574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73168" y="2578608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live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73168" y="3035808"/>
            <a:ext cx="2944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Crews scan, check out, and log calibrations as part of normal work. No parallel spreadsheet.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21040" y="1783080"/>
            <a:ext cx="3529584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8899AA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13648" y="2057400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8613648" y="20574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13648" y="2578608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evidence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13648" y="3035808"/>
            <a:ext cx="2944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found, what was missing, what calibration status actually looks like once recorded.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7091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E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519379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sites, one supervisor at each, and a half-day to tag equipment. Nothing else changes.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566160"/>
            <a:ext cx="4206240" cy="4206240"/>
          </a:xfrm>
          <a:prstGeom prst="ellipse">
            <a:avLst/>
          </a:prstGeom>
          <a:solidFill>
            <a:srgbClr val="1B355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LEAVES YOU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equipment is already yours.</a:t>
            </a:r>
            <a:endParaRPr lang="en-US" sz="3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of it should be too.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of your seventeen sites have no equipment on record, and not one asset in the workbook has a calibration date. That is not a reporting gap — it is the operational picture. Thirty days on two sites is enough to change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5074920"/>
            <a:ext cx="237744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257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pick the two sites.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Survey Asset Forge — Q CELLS</dc:title>
  <dc:subject>PptxGenJS Presentation</dc:subject>
  <dc:creator>Survey Asset Forge</dc:creator>
  <cp:lastModifiedBy>Survey Asset Forge</cp:lastModifiedBy>
  <cp:revision>1</cp:revision>
  <dcterms:created xsi:type="dcterms:W3CDTF">2026-08-07T19:20:13Z</dcterms:created>
  <dcterms:modified xsi:type="dcterms:W3CDTF">2026-08-07T19:20:13Z</dcterms:modified>
</cp:coreProperties>
</file>